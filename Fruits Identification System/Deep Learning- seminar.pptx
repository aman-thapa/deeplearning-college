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72" r:id="rId6"/>
    <p:sldId id="259" r:id="rId7"/>
    <p:sldId id="261" r:id="rId8"/>
    <p:sldId id="262" r:id="rId9"/>
    <p:sldId id="260" r:id="rId10"/>
    <p:sldId id="264" r:id="rId11"/>
    <p:sldId id="265" r:id="rId12"/>
    <p:sldId id="266" r:id="rId13"/>
    <p:sldId id="267" r:id="rId14"/>
    <p:sldId id="268" r:id="rId15"/>
    <p:sldId id="270" r:id="rId16"/>
    <p:sldId id="271" r:id="rId17"/>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c6f90357f_0_0: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0357f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12206817" cy="6867525"/>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FDE934FF-F4E1-47C5-9CA5-30A81DDE2BE4}"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B3561BA9-CDCF-4958-B8AB-66F3BF063E13}"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E0F28FA-A0FF-4778-BEE4-D616BFD88B81}"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E0F28FA-A0FF-4778-BEE4-D616BFD88B81}"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8"/>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FDE934FF-F4E1-47C5-9CA5-30A81DDE2BE4}"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colab.research.google.com/drive/1zROnEERWDZjq58pT1S3JSZtcu8E9p1bN?usp=sharing" TargetMode="External"/><Relationship Id="rId1" Type="http://schemas.openxmlformats.org/officeDocument/2006/relationships/hyperlink" Target="https://github.com/aman-thapa/DeepLearning-College/tree/main/Fruits%20Identification%20Syste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hyperlink" Target="https://www.dropbox.com/s/fxn3ldztzwxm0rw/FruitsData.zip" TargetMode="External"/><Relationship Id="rId1" Type="http://schemas.openxmlformats.org/officeDocument/2006/relationships/hyperlink" Target="https://www.kaggle.com/moltean/fruit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https://www.tensorflow.org/api_docs/python/tf/keras/applications"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3235" y="3215805"/>
            <a:ext cx="10824800" cy="20304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IN" altLang="en-GB" sz="4400">
                <a:solidFill>
                  <a:srgbClr val="FF0000"/>
                </a:solidFill>
                <a:latin typeface="Arial Black" panose="020B0A04020102020204" charset="0"/>
                <a:ea typeface="Arial Unicode MS" panose="020B0604020202020204" charset="-122"/>
                <a:cs typeface="Arial Black" panose="020B0A04020102020204" charset="0"/>
              </a:rPr>
              <a:t>Deep Learning - Seminar</a:t>
            </a:r>
            <a:endParaRPr lang="en-IN" altLang="en-GB" sz="4400">
              <a:solidFill>
                <a:srgbClr val="FF0000"/>
              </a:solidFill>
              <a:latin typeface="Arial Black" panose="020B0A04020102020204" charset="0"/>
              <a:ea typeface="Arial Unicode MS" panose="020B0604020202020204" charset="-122"/>
              <a:cs typeface="Arial Black" panose="020B0A04020102020204" charset="0"/>
            </a:endParaRPr>
          </a:p>
        </p:txBody>
      </p:sp>
      <p:sp>
        <p:nvSpPr>
          <p:cNvPr id="60" name="Google Shape;60;p13"/>
          <p:cNvSpPr txBox="1"/>
          <p:nvPr>
            <p:ph type="subTitle" idx="1"/>
          </p:nvPr>
        </p:nvSpPr>
        <p:spPr>
          <a:xfrm>
            <a:off x="683600" y="4900819"/>
            <a:ext cx="10824800" cy="1050000"/>
          </a:xfrm>
          <a:prstGeom prst="rect">
            <a:avLst/>
          </a:prstGeom>
        </p:spPr>
        <p:txBody>
          <a:bodyPr spcFirstLastPara="1" wrap="square" lIns="121900" tIns="121900" rIns="121900" bIns="121900" anchor="t" anchorCtr="0">
            <a:noAutofit/>
          </a:bodyPr>
          <a:lstStyle/>
          <a:p>
            <a:pPr marL="0" lvl="0" indent="0" algn="r" rtl="0">
              <a:spcBef>
                <a:spcPts val="0"/>
              </a:spcBef>
              <a:spcAft>
                <a:spcPts val="0"/>
              </a:spcAft>
              <a:buNone/>
            </a:pPr>
            <a:r>
              <a:rPr lang="en-GB">
                <a:solidFill>
                  <a:schemeClr val="tx1"/>
                </a:solidFill>
                <a:latin typeface="Berlin Sans FB" panose="020E0602020502020306" charset="0"/>
                <a:cs typeface="Berlin Sans FB" panose="020E0602020502020306" charset="0"/>
              </a:rPr>
              <a:t>Name- Aman Thapa</a:t>
            </a:r>
            <a:endParaRPr lang="en-GB">
              <a:solidFill>
                <a:schemeClr val="tx1"/>
              </a:solidFill>
              <a:latin typeface="Berlin Sans FB" panose="020E0602020502020306" charset="0"/>
              <a:cs typeface="Berlin Sans FB" panose="020E0602020502020306" charset="0"/>
            </a:endParaRPr>
          </a:p>
          <a:p>
            <a:pPr marL="0" lvl="0" indent="0" algn="r" rtl="0">
              <a:spcBef>
                <a:spcPts val="0"/>
              </a:spcBef>
              <a:spcAft>
                <a:spcPts val="0"/>
              </a:spcAft>
              <a:buNone/>
            </a:pPr>
            <a:r>
              <a:rPr lang="en-GB">
                <a:solidFill>
                  <a:schemeClr val="tx1"/>
                </a:solidFill>
                <a:latin typeface="Berlin Sans FB" panose="020E0602020502020306" charset="0"/>
                <a:cs typeface="Berlin Sans FB" panose="020E0602020502020306" charset="0"/>
              </a:rPr>
              <a:t>USN- ENG19CS0026</a:t>
            </a:r>
            <a:endParaRPr lang="en-GB">
              <a:solidFill>
                <a:schemeClr val="tx1"/>
              </a:solidFill>
              <a:latin typeface="Berlin Sans FB" panose="020E0602020502020306" charset="0"/>
              <a:cs typeface="Berlin Sans FB" panose="020E0602020502020306" charset="0"/>
            </a:endParaRPr>
          </a:p>
          <a:p>
            <a:pPr marL="0" lvl="0" indent="0" algn="r" rtl="0">
              <a:spcBef>
                <a:spcPts val="0"/>
              </a:spcBef>
              <a:spcAft>
                <a:spcPts val="0"/>
              </a:spcAft>
              <a:buNone/>
            </a:pPr>
            <a:r>
              <a:rPr lang="en-GB">
                <a:solidFill>
                  <a:schemeClr val="tx1"/>
                </a:solidFill>
                <a:latin typeface="Berlin Sans FB" panose="020E0602020502020306" charset="0"/>
                <a:cs typeface="Berlin Sans FB" panose="020E0602020502020306" charset="0"/>
              </a:rPr>
              <a:t>Section- A</a:t>
            </a:r>
            <a:endParaRPr lang="en-GB">
              <a:solidFill>
                <a:schemeClr val="tx1"/>
              </a:solidFill>
              <a:latin typeface="Berlin Sans FB" panose="020E0602020502020306" charset="0"/>
              <a:cs typeface="Berlin Sans FB" panose="020E0602020502020306" charset="0"/>
            </a:endParaRPr>
          </a:p>
        </p:txBody>
      </p:sp>
      <p:sp>
        <p:nvSpPr>
          <p:cNvPr id="61" name="Google Shape;61;p13"/>
          <p:cNvSpPr txBox="1"/>
          <p:nvPr/>
        </p:nvSpPr>
        <p:spPr>
          <a:xfrm>
            <a:off x="1717178" y="1156298"/>
            <a:ext cx="7866400" cy="1002030"/>
          </a:xfrm>
          <a:prstGeom prst="rect">
            <a:avLst/>
          </a:prstGeom>
          <a:gradFill flip="none">
            <a:gsLst>
              <a:gs pos="0">
                <a:srgbClr val="007BD3">
                  <a:alpha val="0"/>
                </a:srgbClr>
              </a:gs>
              <a:gs pos="100000">
                <a:srgbClr val="034373"/>
              </a:gs>
            </a:gsLst>
            <a:lin ang="5400000" scaled="0"/>
          </a:grad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GB" sz="4935">
                <a:solidFill>
                  <a:srgbClr val="FFFF00"/>
                </a:solidFill>
                <a:latin typeface="Times New Roman" panose="02020603050405020304"/>
                <a:ea typeface="Times New Roman" panose="02020603050405020304"/>
                <a:cs typeface="Times New Roman" panose="02020603050405020304"/>
                <a:sym typeface="Times New Roman" panose="02020603050405020304"/>
              </a:rPr>
              <a:t>Dayanand Sagar University</a:t>
            </a:r>
            <a:endParaRPr sz="4935">
              <a:solidFill>
                <a:srgbClr val="FFFF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2" name="Google Shape;62;p13"/>
          <p:cNvPicPr preferRelativeResize="0"/>
          <p:nvPr/>
        </p:nvPicPr>
        <p:blipFill>
          <a:blip r:embed="rId1"/>
          <a:stretch>
            <a:fillRect/>
          </a:stretch>
        </p:blipFill>
        <p:spPr>
          <a:xfrm>
            <a:off x="9336900" y="128333"/>
            <a:ext cx="2030400" cy="2030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Topic</a:t>
            </a:r>
            <a:endParaRPr lang="en-IN" altLang="en-US" b="1"/>
          </a:p>
        </p:txBody>
      </p:sp>
      <p:sp>
        <p:nvSpPr>
          <p:cNvPr id="3" name="Content Placeholder 2"/>
          <p:cNvSpPr>
            <a:spLocks noGrp="1"/>
          </p:cNvSpPr>
          <p:nvPr>
            <p:ph sz="half" idx="1"/>
          </p:nvPr>
        </p:nvSpPr>
        <p:spPr>
          <a:xfrm>
            <a:off x="292100" y="1612900"/>
            <a:ext cx="5859780" cy="4953000"/>
          </a:xfrm>
        </p:spPr>
        <p:txBody>
          <a:bodyPr/>
          <a:p>
            <a:pPr marL="0" indent="0" algn="ctr">
              <a:buNone/>
            </a:pPr>
            <a:r>
              <a:rPr lang="en-IN" altLang="en-US" sz="6600">
                <a:solidFill>
                  <a:schemeClr val="accent1"/>
                </a:solidFill>
                <a:effectLst>
                  <a:outerShdw blurRad="38100" dist="25400" dir="5400000" algn="ctr" rotWithShape="0">
                    <a:srgbClr val="6E747A">
                      <a:alpha val="43000"/>
                    </a:srgbClr>
                  </a:outerShdw>
                </a:effectLst>
                <a:latin typeface="Arial Rounded MT Bold" panose="020F0704030504030204" charset="0"/>
                <a:cs typeface="Arial Rounded MT Bold" panose="020F0704030504030204" charset="0"/>
              </a:rPr>
              <a:t>Fruits </a:t>
            </a:r>
            <a:endParaRPr lang="en-IN" altLang="en-US" sz="6600">
              <a:solidFill>
                <a:schemeClr val="accent1"/>
              </a:solidFill>
              <a:effectLst>
                <a:outerShdw blurRad="38100" dist="25400" dir="5400000" algn="ctr" rotWithShape="0">
                  <a:srgbClr val="6E747A">
                    <a:alpha val="43000"/>
                  </a:srgbClr>
                </a:outerShdw>
              </a:effectLst>
              <a:latin typeface="Arial Rounded MT Bold" panose="020F0704030504030204" charset="0"/>
              <a:cs typeface="Arial Rounded MT Bold" panose="020F0704030504030204" charset="0"/>
            </a:endParaRPr>
          </a:p>
          <a:p>
            <a:pPr marL="0" indent="0" algn="ctr">
              <a:buNone/>
            </a:pPr>
            <a:r>
              <a:rPr lang="en-IN" altLang="en-US" sz="6600">
                <a:solidFill>
                  <a:schemeClr val="accent1"/>
                </a:solidFill>
                <a:effectLst>
                  <a:outerShdw blurRad="38100" dist="25400" dir="5400000" algn="ctr" rotWithShape="0">
                    <a:srgbClr val="6E747A">
                      <a:alpha val="43000"/>
                    </a:srgbClr>
                  </a:outerShdw>
                </a:effectLst>
                <a:latin typeface="Arial Rounded MT Bold" panose="020F0704030504030204" charset="0"/>
                <a:cs typeface="Arial Rounded MT Bold" panose="020F0704030504030204" charset="0"/>
              </a:rPr>
              <a:t>Identification </a:t>
            </a:r>
            <a:endParaRPr lang="en-IN" altLang="en-US" sz="6600">
              <a:solidFill>
                <a:schemeClr val="accent1"/>
              </a:solidFill>
              <a:effectLst>
                <a:outerShdw blurRad="38100" dist="25400" dir="5400000" algn="ctr" rotWithShape="0">
                  <a:srgbClr val="6E747A">
                    <a:alpha val="43000"/>
                  </a:srgbClr>
                </a:outerShdw>
              </a:effectLst>
              <a:latin typeface="Arial Rounded MT Bold" panose="020F0704030504030204" charset="0"/>
              <a:cs typeface="Arial Rounded MT Bold" panose="020F0704030504030204" charset="0"/>
            </a:endParaRPr>
          </a:p>
          <a:p>
            <a:pPr marL="0" indent="0" algn="ctr">
              <a:buNone/>
            </a:pPr>
            <a:r>
              <a:rPr lang="en-IN" altLang="en-US" sz="6600">
                <a:solidFill>
                  <a:schemeClr val="accent1"/>
                </a:solidFill>
                <a:effectLst>
                  <a:outerShdw blurRad="38100" dist="25400" dir="5400000" algn="ctr" rotWithShape="0">
                    <a:srgbClr val="6E747A">
                      <a:alpha val="43000"/>
                    </a:srgbClr>
                  </a:outerShdw>
                </a:effectLst>
                <a:latin typeface="Arial Rounded MT Bold" panose="020F0704030504030204" charset="0"/>
                <a:cs typeface="Arial Rounded MT Bold" panose="020F0704030504030204" charset="0"/>
              </a:rPr>
              <a:t>System</a:t>
            </a:r>
            <a:endParaRPr lang="en-IN" altLang="en-US" sz="6600">
              <a:solidFill>
                <a:schemeClr val="accent1"/>
              </a:solidFill>
              <a:effectLst>
                <a:outerShdw blurRad="38100" dist="25400" dir="5400000" algn="ctr" rotWithShape="0">
                  <a:srgbClr val="6E747A">
                    <a:alpha val="43000"/>
                  </a:srgbClr>
                </a:outerShdw>
              </a:effectLst>
              <a:latin typeface="Arial Rounded MT Bold" panose="020F0704030504030204" charset="0"/>
              <a:cs typeface="Arial Rounded MT Bold" panose="020F0704030504030204" charset="0"/>
            </a:endParaRPr>
          </a:p>
        </p:txBody>
      </p:sp>
      <p:pic>
        <p:nvPicPr>
          <p:cNvPr id="6" name="Content Placeholder 5" descr="1_68FrSh1vUTyIfMyCHC0qHg"/>
          <p:cNvPicPr>
            <a:picLocks noChangeAspect="1"/>
          </p:cNvPicPr>
          <p:nvPr>
            <p:ph sz="half" idx="2"/>
          </p:nvPr>
        </p:nvPicPr>
        <p:blipFill>
          <a:blip r:embed="rId1"/>
          <a:stretch>
            <a:fillRect/>
          </a:stretch>
        </p:blipFill>
        <p:spPr>
          <a:xfrm>
            <a:off x="6151245" y="1974850"/>
            <a:ext cx="5828030" cy="40239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Code</a:t>
            </a:r>
            <a:endParaRPr lang="en-IN" altLang="en-US" b="1"/>
          </a:p>
        </p:txBody>
      </p:sp>
      <p:sp>
        <p:nvSpPr>
          <p:cNvPr id="3" name="Content Placeholder 2"/>
          <p:cNvSpPr>
            <a:spLocks noGrp="1"/>
          </p:cNvSpPr>
          <p:nvPr>
            <p:ph idx="1"/>
          </p:nvPr>
        </p:nvSpPr>
        <p:spPr/>
        <p:txBody>
          <a:bodyPr/>
          <a:p>
            <a:r>
              <a:rPr lang="en-IN" altLang="en-US"/>
              <a:t>Github Link: -</a:t>
            </a:r>
            <a:endParaRPr lang="en-IN" altLang="en-US"/>
          </a:p>
          <a:p>
            <a:pPr marL="0" indent="0">
              <a:buNone/>
            </a:pPr>
            <a:r>
              <a:rPr lang="en-IN" altLang="en-US">
                <a:hlinkClick r:id="rId1" tooltip="" action="ppaction://hlinkfile"/>
              </a:rPr>
              <a:t>https://github.com/aman-thapa/DeepLearning-College/tree/main/Fruits%20Identification%20System</a:t>
            </a:r>
            <a:endParaRPr lang="en-IN" altLang="en-US"/>
          </a:p>
          <a:p>
            <a:endParaRPr lang="en-IN" altLang="en-US"/>
          </a:p>
          <a:p>
            <a:r>
              <a:rPr lang="en-IN" altLang="en-US"/>
              <a:t>Google Colab Link: -</a:t>
            </a:r>
            <a:endParaRPr lang="en-IN" altLang="en-US"/>
          </a:p>
          <a:p>
            <a:pPr marL="0" indent="0">
              <a:buNone/>
            </a:pPr>
            <a:r>
              <a:rPr lang="en-IN" altLang="en-US">
                <a:hlinkClick r:id="rId2" tooltip="" action="ppaction://hlinkfile"/>
              </a:rPr>
              <a:t>https://colab.research.google.com/drive/1zROnEERWDZjq58pT1S3JSZtcu8E9p1bN?usp=sharing</a:t>
            </a:r>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Objectives</a:t>
            </a:r>
            <a:endParaRPr lang="en-IN" altLang="en-US" b="1"/>
          </a:p>
        </p:txBody>
      </p:sp>
      <p:sp>
        <p:nvSpPr>
          <p:cNvPr id="3" name="Content Placeholder 2"/>
          <p:cNvSpPr>
            <a:spLocks noGrp="1"/>
          </p:cNvSpPr>
          <p:nvPr>
            <p:ph idx="1"/>
          </p:nvPr>
        </p:nvSpPr>
        <p:spPr/>
        <p:txBody>
          <a:bodyPr/>
          <a:p>
            <a:pPr marL="527050" lvl="0" indent="-457200" algn="l" rtl="0">
              <a:lnSpc>
                <a:spcPct val="150000"/>
              </a:lnSpc>
              <a:spcBef>
                <a:spcPts val="0"/>
              </a:spcBef>
              <a:spcAft>
                <a:spcPts val="0"/>
              </a:spcAft>
              <a:buClr>
                <a:schemeClr val="dk1"/>
              </a:buClr>
              <a:buSzPts val="2500"/>
              <a:buFont typeface="Arial" panose="020B0604020202020204" pitchFamily="34" charset="0"/>
              <a:buChar char="•"/>
            </a:pPr>
            <a:r>
              <a:rPr lang="en-US">
                <a:solidFill>
                  <a:schemeClr val="dk1"/>
                </a:solidFill>
                <a:sym typeface="+mn-ea"/>
              </a:rPr>
              <a:t>Dealing with Image datasets.</a:t>
            </a:r>
            <a:endParaRPr lang="en-US">
              <a:solidFill>
                <a:schemeClr val="dk1"/>
              </a:solidFill>
              <a:sym typeface="+mn-ea"/>
            </a:endParaRPr>
          </a:p>
          <a:p>
            <a:pPr marL="69850" lvl="0" indent="0" algn="l" rtl="0">
              <a:lnSpc>
                <a:spcPct val="150000"/>
              </a:lnSpc>
              <a:spcBef>
                <a:spcPts val="0"/>
              </a:spcBef>
              <a:spcAft>
                <a:spcPts val="0"/>
              </a:spcAft>
              <a:buClr>
                <a:schemeClr val="dk1"/>
              </a:buClr>
              <a:buSzPts val="2500"/>
              <a:buFont typeface="Arial" panose="020B0604020202020204" pitchFamily="34" charset="0"/>
              <a:buNone/>
            </a:pPr>
            <a:endParaRPr lang="en-US">
              <a:solidFill>
                <a:schemeClr val="dk1"/>
              </a:solidFill>
              <a:sym typeface="+mn-ea"/>
            </a:endParaRPr>
          </a:p>
          <a:p>
            <a:pPr marL="527050" lvl="0" indent="-457200" algn="l" rtl="0">
              <a:lnSpc>
                <a:spcPct val="150000"/>
              </a:lnSpc>
              <a:spcBef>
                <a:spcPts val="0"/>
              </a:spcBef>
              <a:spcAft>
                <a:spcPts val="0"/>
              </a:spcAft>
              <a:buClr>
                <a:schemeClr val="dk1"/>
              </a:buClr>
              <a:buSzPts val="2500"/>
              <a:buFont typeface="Arial" panose="020B0604020202020204" pitchFamily="34" charset="0"/>
              <a:buChar char="•"/>
            </a:pPr>
            <a:r>
              <a:rPr lang="en-US">
                <a:solidFill>
                  <a:schemeClr val="dk1"/>
                </a:solidFill>
                <a:sym typeface="+mn-ea"/>
              </a:rPr>
              <a:t>Performing Data Processing and Augmentation as and when required.</a:t>
            </a:r>
            <a:endParaRPr lang="en-US">
              <a:solidFill>
                <a:schemeClr val="dk1"/>
              </a:solidFill>
              <a:sym typeface="+mn-ea"/>
            </a:endParaRPr>
          </a:p>
          <a:p>
            <a:pPr marL="69850" lvl="0" indent="0" algn="l" rtl="0">
              <a:lnSpc>
                <a:spcPct val="150000"/>
              </a:lnSpc>
              <a:spcBef>
                <a:spcPts val="0"/>
              </a:spcBef>
              <a:spcAft>
                <a:spcPts val="0"/>
              </a:spcAft>
              <a:buClr>
                <a:schemeClr val="dk1"/>
              </a:buClr>
              <a:buSzPts val="2500"/>
              <a:buFont typeface="Arial" panose="020B0604020202020204" pitchFamily="34" charset="0"/>
              <a:buNone/>
            </a:pPr>
            <a:endParaRPr lang="en-US">
              <a:solidFill>
                <a:schemeClr val="dk1"/>
              </a:solidFill>
              <a:sym typeface="+mn-ea"/>
            </a:endParaRPr>
          </a:p>
          <a:p>
            <a:pPr marL="527050" lvl="0" indent="-457200" algn="l" rtl="0">
              <a:lnSpc>
                <a:spcPct val="150000"/>
              </a:lnSpc>
              <a:spcBef>
                <a:spcPts val="0"/>
              </a:spcBef>
              <a:spcAft>
                <a:spcPts val="0"/>
              </a:spcAft>
              <a:buClr>
                <a:schemeClr val="dk1"/>
              </a:buClr>
              <a:buSzPts val="2500"/>
              <a:buFont typeface="Arial" panose="020B0604020202020204" pitchFamily="34" charset="0"/>
              <a:buChar char="•"/>
            </a:pPr>
            <a:r>
              <a:rPr lang="en-US">
                <a:solidFill>
                  <a:schemeClr val="dk1"/>
                </a:solidFill>
                <a:sym typeface="+mn-ea"/>
              </a:rPr>
              <a:t>Creating and training a Convolutional Neural Network using Tensorflow 2.0.</a:t>
            </a:r>
            <a:endParaRPr lang="en-US">
              <a:solidFill>
                <a:schemeClr val="dk1"/>
              </a:solidFill>
              <a:sym typeface="+mn-ea"/>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What is CNN?</a:t>
            </a:r>
            <a:endParaRPr lang="en-IN" altLang="en-US" b="1"/>
          </a:p>
        </p:txBody>
      </p:sp>
      <p:sp>
        <p:nvSpPr>
          <p:cNvPr id="3" name="Content Placeholder 2"/>
          <p:cNvSpPr>
            <a:spLocks noGrp="1"/>
          </p:cNvSpPr>
          <p:nvPr>
            <p:ph sz="half" idx="1"/>
          </p:nvPr>
        </p:nvSpPr>
        <p:spPr/>
        <p:txBody>
          <a:bodyPr/>
          <a:p>
            <a:pPr marL="0" indent="0">
              <a:buNone/>
            </a:pPr>
            <a:r>
              <a:rPr lang="en-US" sz="2800"/>
              <a:t>A Convolutional Neural Network (ConvNet/CNN) is a </a:t>
            </a:r>
            <a:r>
              <a:rPr lang="en-US" sz="2800" b="1"/>
              <a:t>Deep Learning algorithm</a:t>
            </a:r>
            <a:r>
              <a:rPr lang="en-US" sz="2800"/>
              <a:t> which can take in an input image, assign importance (learnable weights and biases) to various aspects/objects in the image and be able to differentiate one from the other. The pre-processing required in a ConvNet is much lower as compared to other classification algorithms.</a:t>
            </a:r>
            <a:endParaRPr lang="en-US" sz="2800"/>
          </a:p>
        </p:txBody>
      </p:sp>
      <p:pic>
        <p:nvPicPr>
          <p:cNvPr id="5" name="Content Placeholder 4"/>
          <p:cNvPicPr>
            <a:picLocks noChangeAspect="1"/>
          </p:cNvPicPr>
          <p:nvPr>
            <p:ph sz="half" idx="2"/>
          </p:nvPr>
        </p:nvPicPr>
        <p:blipFill>
          <a:blip r:embed="rId1"/>
          <a:stretch>
            <a:fillRect/>
          </a:stretch>
        </p:blipFill>
        <p:spPr>
          <a:xfrm>
            <a:off x="6432550" y="2472690"/>
            <a:ext cx="5365115" cy="20720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Approach</a:t>
            </a:r>
            <a:endParaRPr lang="en-IN" altLang="en-US" b="1"/>
          </a:p>
        </p:txBody>
      </p:sp>
      <p:sp>
        <p:nvSpPr>
          <p:cNvPr id="3" name="Content Placeholder 2"/>
          <p:cNvSpPr>
            <a:spLocks noGrp="1"/>
          </p:cNvSpPr>
          <p:nvPr>
            <p:ph sz="half" idx="1"/>
          </p:nvPr>
        </p:nvSpPr>
        <p:spPr>
          <a:xfrm>
            <a:off x="609600" y="1174750"/>
            <a:ext cx="10972800" cy="4953000"/>
          </a:xfrm>
        </p:spPr>
        <p:txBody>
          <a:bodyPr/>
          <a:p>
            <a:r>
              <a:rPr lang="en-US" sz="2800"/>
              <a:t>Build a small convolutional neural network</a:t>
            </a:r>
            <a:r>
              <a:rPr lang="en-IN" altLang="en-US" sz="2800"/>
              <a:t>.</a:t>
            </a:r>
            <a:endParaRPr lang="en-US" sz="2800"/>
          </a:p>
          <a:p>
            <a:r>
              <a:rPr lang="en-US" sz="2800"/>
              <a:t>Select images to train the convolutional neural network.</a:t>
            </a:r>
            <a:endParaRPr lang="en-US" sz="2800"/>
          </a:p>
          <a:p>
            <a:r>
              <a:rPr lang="en-US" sz="2800"/>
              <a:t>Extraction of feature filters/feature maps.</a:t>
            </a:r>
            <a:endParaRPr lang="en-US" sz="2800"/>
          </a:p>
          <a:p>
            <a:r>
              <a:rPr lang="en-US" sz="2800"/>
              <a:t>Implementation of the convolutional layer.</a:t>
            </a:r>
            <a:endParaRPr lang="en-US" sz="2800"/>
          </a:p>
          <a:p>
            <a:r>
              <a:rPr lang="en-US" sz="2800"/>
              <a:t>Apply the ReLu Activation function on the convolutional layer to convert all negative values to zero.</a:t>
            </a:r>
            <a:endParaRPr lang="en-US" sz="2800"/>
          </a:p>
          <a:p>
            <a:r>
              <a:rPr lang="en-US" sz="2800"/>
              <a:t>Then apply max pooling on convolutional layers.</a:t>
            </a:r>
            <a:endParaRPr lang="en-US" sz="2800"/>
          </a:p>
          <a:p>
            <a:r>
              <a:rPr lang="en-US" sz="2800"/>
              <a:t>Make a fully connected layer</a:t>
            </a:r>
            <a:endParaRPr lang="en-US" sz="2800"/>
          </a:p>
          <a:p>
            <a:r>
              <a:rPr lang="en-US" sz="2800"/>
              <a:t>Then input an image into CNN to predict the image content</a:t>
            </a:r>
            <a:endParaRPr lang="en-US" sz="2800"/>
          </a:p>
          <a:p>
            <a:r>
              <a:rPr lang="en-US" sz="2800"/>
              <a:t>Backpropagation to calculate the error rate</a:t>
            </a:r>
            <a:endParaRPr 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Dataset</a:t>
            </a:r>
            <a:endParaRPr lang="en-IN" altLang="en-US" b="1"/>
          </a:p>
        </p:txBody>
      </p:sp>
      <p:sp>
        <p:nvSpPr>
          <p:cNvPr id="3" name="Content Placeholder 2"/>
          <p:cNvSpPr>
            <a:spLocks noGrp="1"/>
          </p:cNvSpPr>
          <p:nvPr>
            <p:ph sz="half" idx="1"/>
          </p:nvPr>
        </p:nvSpPr>
        <p:spPr>
          <a:xfrm>
            <a:off x="609600" y="1174750"/>
            <a:ext cx="10024745" cy="2382520"/>
          </a:xfrm>
        </p:spPr>
        <p:txBody>
          <a:bodyPr/>
          <a:p>
            <a:r>
              <a:rPr lang="en-IN" altLang="en-US" sz="2400"/>
              <a:t>Kaggle Dataset Link: -</a:t>
            </a:r>
            <a:endParaRPr lang="en-IN" altLang="en-US" sz="2400"/>
          </a:p>
          <a:p>
            <a:pPr marL="0" indent="0">
              <a:buNone/>
            </a:pPr>
            <a:r>
              <a:rPr lang="en-IN" altLang="en-US" sz="2400">
                <a:hlinkClick r:id="rId1" action="ppaction://hlinkfile"/>
              </a:rPr>
              <a:t>https://www.kaggle.com/moltean/fruits</a:t>
            </a:r>
            <a:endParaRPr lang="en-IN" altLang="en-US" sz="2400">
              <a:hlinkClick r:id="rId1" action="ppaction://hlinkfile"/>
            </a:endParaRPr>
          </a:p>
          <a:p>
            <a:pPr marL="0" indent="0">
              <a:buNone/>
            </a:pPr>
            <a:endParaRPr lang="en-IN" altLang="en-US" sz="2400"/>
          </a:p>
          <a:p>
            <a:r>
              <a:rPr lang="en-IN" altLang="en-US" sz="2400"/>
              <a:t>Download dataset in google colab: -</a:t>
            </a:r>
            <a:endParaRPr lang="en-IN" altLang="en-US" sz="2400"/>
          </a:p>
          <a:p>
            <a:pPr marL="0" indent="0">
              <a:buNone/>
            </a:pPr>
            <a:r>
              <a:rPr lang="en-IN" altLang="en-US" sz="2400">
                <a:hlinkClick r:id="rId2" tooltip="" action="ppaction://hlinkfile"/>
              </a:rPr>
              <a:t>https://www.dropbox.com/s/fxn3ldztzwxm0rw/FruitsData.zip</a:t>
            </a:r>
            <a:endParaRPr lang="en-IN" altLang="en-US" sz="2400"/>
          </a:p>
          <a:p>
            <a:pPr marL="0" indent="0">
              <a:buNone/>
            </a:pPr>
            <a:endParaRPr lang="en-IN" altLang="en-US" sz="2400"/>
          </a:p>
        </p:txBody>
      </p:sp>
      <p:pic>
        <p:nvPicPr>
          <p:cNvPr id="4" name="Content Placeholder 3" descr="Fruits 360 _ Kaggle - Google Chrome 11-10-2021 09_39_58 AM"/>
          <p:cNvPicPr>
            <a:picLocks noChangeAspect="1"/>
          </p:cNvPicPr>
          <p:nvPr>
            <p:ph sz="half" idx="2"/>
          </p:nvPr>
        </p:nvPicPr>
        <p:blipFill>
          <a:blip r:embed="rId3"/>
          <a:srcRect l="20342" t="32275" r="11225"/>
          <a:stretch>
            <a:fillRect/>
          </a:stretch>
        </p:blipFill>
        <p:spPr>
          <a:xfrm>
            <a:off x="6804025" y="3800475"/>
            <a:ext cx="4864100" cy="2557145"/>
          </a:xfrm>
          <a:prstGeom prst="rect">
            <a:avLst/>
          </a:prstGeom>
        </p:spPr>
      </p:pic>
      <p:pic>
        <p:nvPicPr>
          <p:cNvPr id="5" name="Picture 4"/>
          <p:cNvPicPr>
            <a:picLocks noChangeAspect="1"/>
          </p:cNvPicPr>
          <p:nvPr/>
        </p:nvPicPr>
        <p:blipFill>
          <a:blip r:embed="rId4"/>
          <a:stretch>
            <a:fillRect/>
          </a:stretch>
        </p:blipFill>
        <p:spPr>
          <a:xfrm>
            <a:off x="331470" y="4178935"/>
            <a:ext cx="5589270" cy="15913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Applying Data Augmentation</a:t>
            </a:r>
            <a:endParaRPr lang="en-IN" altLang="en-US" b="1"/>
          </a:p>
        </p:txBody>
      </p:sp>
      <p:sp>
        <p:nvSpPr>
          <p:cNvPr id="3" name="Content Placeholder 2"/>
          <p:cNvSpPr>
            <a:spLocks noGrp="1"/>
          </p:cNvSpPr>
          <p:nvPr>
            <p:ph sz="half" idx="1"/>
          </p:nvPr>
        </p:nvSpPr>
        <p:spPr>
          <a:xfrm>
            <a:off x="609600" y="1174750"/>
            <a:ext cx="10972165" cy="4953000"/>
          </a:xfrm>
        </p:spPr>
        <p:txBody>
          <a:bodyPr/>
          <a:p>
            <a:r>
              <a:rPr lang="en-US" sz="2400"/>
              <a:t>Inspite of all the data availability, fetching the right type of data which matches the exact use-case of our experiment is a daunting task. Moreover, the data has to have good diversity as the object of interest needs to be present in varying sizes, lighting conditions and poses if we desire that our network generalizes well during the testing phase. To overcome this problem of limited quantity and limited diversity of data, we generate(manufacture) our own data with the existing data which we have. This methodology of generating our own data is known as </a:t>
            </a:r>
            <a:r>
              <a:rPr lang="en-US" sz="2400" b="1"/>
              <a:t>data augmentation.</a:t>
            </a:r>
            <a:endParaRPr lang="en-US" sz="2400"/>
          </a:p>
          <a:p>
            <a:pPr marL="0" indent="0">
              <a:buNone/>
            </a:pPr>
            <a:endParaRPr lang="en-US" sz="2400"/>
          </a:p>
          <a:p>
            <a:r>
              <a:rPr lang="en-US" sz="2400"/>
              <a:t>To state a few of the frameworks, Keras has ImageDataGenerator (needs least amount of work from us), Tensorflow has TFLearn’s DataAugmentation and MXNet has Augmenter classes.</a:t>
            </a:r>
            <a:endParaRPr lang="en-US" sz="2400"/>
          </a:p>
          <a:p>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Trying Different Models</a:t>
            </a:r>
            <a:endParaRPr lang="en-IN" altLang="en-US" b="1"/>
          </a:p>
        </p:txBody>
      </p:sp>
      <p:sp>
        <p:nvSpPr>
          <p:cNvPr id="3" name="Content Placeholder 2"/>
          <p:cNvSpPr>
            <a:spLocks noGrp="1"/>
          </p:cNvSpPr>
          <p:nvPr>
            <p:ph sz="half" idx="1"/>
          </p:nvPr>
        </p:nvSpPr>
        <p:spPr>
          <a:xfrm>
            <a:off x="609600" y="1174750"/>
            <a:ext cx="10972800" cy="4990465"/>
          </a:xfrm>
        </p:spPr>
        <p:txBody>
          <a:bodyPr/>
          <a:p>
            <a:r>
              <a:rPr lang="en-IN" altLang="en-US" sz="2800"/>
              <a:t>Models tensorflow currently supports: -</a:t>
            </a:r>
            <a:endParaRPr lang="en-IN" altLang="en-US" sz="2800"/>
          </a:p>
          <a:p>
            <a:pPr marL="0" indent="0">
              <a:buNone/>
            </a:pPr>
            <a:r>
              <a:rPr lang="en-IN" altLang="en-US" sz="2800">
                <a:hlinkClick r:id="rId1" tooltip="" action="ppaction://hlinkfile"/>
              </a:rPr>
              <a:t>https://www.tensorflow.org/api_docs/python/tf/keras/applications</a:t>
            </a:r>
            <a:endParaRPr lang="en-IN" altLang="en-US" sz="2800">
              <a:hlinkClick r:id="rId1" tooltip="" action="ppaction://hlinkfile"/>
            </a:endParaRPr>
          </a:p>
          <a:p>
            <a:pPr marL="0" indent="0">
              <a:buNone/>
            </a:pPr>
            <a:endParaRPr lang="en-IN" altLang="en-US" sz="2800"/>
          </a:p>
          <a:p>
            <a:r>
              <a:rPr lang="en-IN" altLang="en-US" sz="2800"/>
              <a:t>After evaluting three models which are </a:t>
            </a:r>
            <a:r>
              <a:rPr lang="en-IN" altLang="en-US" sz="2800" b="1"/>
              <a:t>RESNET50</a:t>
            </a:r>
            <a:r>
              <a:rPr lang="en-IN" altLang="en-US" sz="2800"/>
              <a:t>, </a:t>
            </a:r>
            <a:r>
              <a:rPr lang="en-IN" altLang="en-US" sz="2800" b="1"/>
              <a:t>INCEPTION V3</a:t>
            </a:r>
            <a:r>
              <a:rPr lang="en-IN" altLang="en-US" sz="2800"/>
              <a:t> and </a:t>
            </a:r>
            <a:r>
              <a:rPr lang="en-IN" altLang="en-US" sz="2800" b="1"/>
              <a:t>EFFICIENTNETB3,</a:t>
            </a:r>
            <a:r>
              <a:rPr lang="en-IN" altLang="en-US" sz="2800"/>
              <a:t> we found that </a:t>
            </a:r>
            <a:r>
              <a:rPr lang="en-IN" altLang="en-US" sz="2800" b="1"/>
              <a:t>EFFICIENTNETB3</a:t>
            </a:r>
            <a:r>
              <a:rPr lang="en-IN" altLang="en-US" sz="2800"/>
              <a:t> performed better. Hence, we will use this model for testing.</a:t>
            </a:r>
            <a:endParaRPr lang="en-IN" altLang="en-US" sz="2800"/>
          </a:p>
          <a:p>
            <a:endParaRPr lang="en-IN" altLang="en-US" sz="2800"/>
          </a:p>
          <a:p>
            <a:r>
              <a:rPr lang="en-IN" altLang="en-US" sz="2800"/>
              <a:t>EfficientNet is a convolutional neural network architecture and scaling method that uniformly scales all dimensions of depth/width/resolution using a compound coefficient.</a:t>
            </a:r>
            <a:endParaRPr lang="en-IN" altLang="en-US"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5" name="Content Placeholder 4"/>
          <p:cNvPicPr>
            <a:picLocks noChangeAspect="1"/>
          </p:cNvPicPr>
          <p:nvPr>
            <p:ph sz="half" idx="1"/>
          </p:nvPr>
        </p:nvPicPr>
        <p:blipFill>
          <a:blip r:embed="rId1"/>
          <a:stretch>
            <a:fillRect/>
          </a:stretch>
        </p:blipFill>
        <p:spPr>
          <a:xfrm>
            <a:off x="943610" y="916940"/>
            <a:ext cx="10320655" cy="58058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Evaluating Model</a:t>
            </a:r>
            <a:endParaRPr lang="en-IN" altLang="en-US" b="1"/>
          </a:p>
        </p:txBody>
      </p:sp>
      <p:sp>
        <p:nvSpPr>
          <p:cNvPr id="3" name="Content Placeholder 2"/>
          <p:cNvSpPr>
            <a:spLocks noGrp="1"/>
          </p:cNvSpPr>
          <p:nvPr>
            <p:ph sz="half" idx="1"/>
          </p:nvPr>
        </p:nvSpPr>
        <p:spPr>
          <a:xfrm>
            <a:off x="609600" y="1174750"/>
            <a:ext cx="10656570" cy="1465580"/>
          </a:xfrm>
        </p:spPr>
        <p:txBody>
          <a:bodyPr/>
          <a:p>
            <a:r>
              <a:rPr lang="en-IN" altLang="en-US"/>
              <a:t>We get a good accuracy considering it was a large multiclass problem.</a:t>
            </a:r>
            <a:endParaRPr lang="en-IN" altLang="en-US"/>
          </a:p>
          <a:p>
            <a:pPr marL="0" indent="0">
              <a:buNone/>
            </a:pPr>
            <a:endParaRPr lang="en-IN" altLang="en-US"/>
          </a:p>
        </p:txBody>
      </p:sp>
      <p:pic>
        <p:nvPicPr>
          <p:cNvPr id="5" name="Content Placeholder 4"/>
          <p:cNvPicPr>
            <a:picLocks noChangeAspect="1"/>
          </p:cNvPicPr>
          <p:nvPr>
            <p:ph sz="half" idx="2"/>
          </p:nvPr>
        </p:nvPicPr>
        <p:blipFill>
          <a:blip r:embed="rId1"/>
          <a:srcRect l="8491" t="46520" b="20943"/>
          <a:stretch>
            <a:fillRect/>
          </a:stretch>
        </p:blipFill>
        <p:spPr>
          <a:xfrm>
            <a:off x="668655" y="3312795"/>
            <a:ext cx="10854055" cy="21710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Real Time Prediction</a:t>
            </a:r>
            <a:endParaRPr lang="en-IN" altLang="en-US" b="1"/>
          </a:p>
        </p:txBody>
      </p:sp>
      <p:sp>
        <p:nvSpPr>
          <p:cNvPr id="3" name="Content Placeholder 2"/>
          <p:cNvSpPr>
            <a:spLocks noGrp="1"/>
          </p:cNvSpPr>
          <p:nvPr>
            <p:ph sz="half" idx="1"/>
          </p:nvPr>
        </p:nvSpPr>
        <p:spPr>
          <a:xfrm>
            <a:off x="609600" y="1174750"/>
            <a:ext cx="10972800" cy="5055870"/>
          </a:xfrm>
        </p:spPr>
        <p:txBody>
          <a:bodyPr/>
          <a:p>
            <a:r>
              <a:rPr lang="en-IN" altLang="en-US" sz="2800"/>
              <a:t>We have built a model that can classify different types of fruits and vegetables, we can go ahead and make a simple application out of it.</a:t>
            </a:r>
            <a:endParaRPr lang="en-IN" altLang="en-US" sz="2800"/>
          </a:p>
          <a:p>
            <a:endParaRPr lang="en-IN" altLang="en-US" sz="2800"/>
          </a:p>
          <a:p>
            <a:r>
              <a:rPr lang="en-IN" altLang="en-US" sz="2800" b="1"/>
              <a:t>For example</a:t>
            </a:r>
            <a:r>
              <a:rPr lang="en-IN" altLang="en-US" sz="2800"/>
              <a:t> - A customer would click an image with his phone and upload it in our application and we detect the fruit name and return it back to the customer.</a:t>
            </a:r>
            <a:endParaRPr lang="en-IN" altLang="en-US" sz="2800"/>
          </a:p>
          <a:p>
            <a:pPr marL="0" indent="0">
              <a:buNone/>
            </a:pPr>
            <a:endParaRPr lang="en-IN" altLang="en-US" sz="2800"/>
          </a:p>
          <a:p>
            <a:r>
              <a:rPr lang="en-IN" altLang="en-US" sz="2800"/>
              <a:t>For this we need to build a pipeline that takes an input as a single image and the output would be a string that tells the name of the fruit.</a:t>
            </a:r>
            <a:endParaRPr lang="en-IN" altLang="en-US"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r>
              <a:rPr lang="en-IN" altLang="en-US" b="1"/>
              <a:t>Sample</a:t>
            </a:r>
            <a:endParaRPr lang="en-IN" altLang="en-US" b="1"/>
          </a:p>
        </p:txBody>
      </p:sp>
      <p:sp>
        <p:nvSpPr>
          <p:cNvPr id="3" name="Content Placeholder 2"/>
          <p:cNvSpPr>
            <a:spLocks noGrp="1"/>
          </p:cNvSpPr>
          <p:nvPr>
            <p:ph sz="half" idx="1"/>
          </p:nvPr>
        </p:nvSpPr>
        <p:spPr>
          <a:xfrm>
            <a:off x="609600" y="1174750"/>
            <a:ext cx="10972800" cy="1482090"/>
          </a:xfrm>
        </p:spPr>
        <p:txBody>
          <a:bodyPr/>
          <a:p>
            <a:r>
              <a:rPr lang="en-IN" altLang="en-US"/>
              <a:t>A random image path was passed and we got the ouput.</a:t>
            </a:r>
            <a:endParaRPr lang="en-IN" altLang="en-US"/>
          </a:p>
        </p:txBody>
      </p:sp>
      <p:pic>
        <p:nvPicPr>
          <p:cNvPr id="5" name="Content Placeholder 4"/>
          <p:cNvPicPr>
            <a:picLocks noChangeAspect="1"/>
          </p:cNvPicPr>
          <p:nvPr>
            <p:ph sz="half" idx="2"/>
          </p:nvPr>
        </p:nvPicPr>
        <p:blipFill>
          <a:blip r:embed="rId1"/>
          <a:srcRect l="8844" t="31748" r="14118" b="10164"/>
          <a:stretch>
            <a:fillRect/>
          </a:stretch>
        </p:blipFill>
        <p:spPr>
          <a:xfrm>
            <a:off x="2194560" y="2537460"/>
            <a:ext cx="7791450" cy="3532505"/>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Ways to improve training results</a:t>
            </a:r>
            <a:endParaRPr lang="en-IN" altLang="en-US" b="1"/>
          </a:p>
        </p:txBody>
      </p:sp>
      <p:sp>
        <p:nvSpPr>
          <p:cNvPr id="3" name="Content Placeholder 2"/>
          <p:cNvSpPr>
            <a:spLocks noGrp="1"/>
          </p:cNvSpPr>
          <p:nvPr>
            <p:ph sz="half" idx="1"/>
          </p:nvPr>
        </p:nvSpPr>
        <p:spPr>
          <a:xfrm>
            <a:off x="609600" y="1174750"/>
            <a:ext cx="10972165" cy="4701540"/>
          </a:xfrm>
        </p:spPr>
        <p:txBody>
          <a:bodyPr/>
          <a:p>
            <a:r>
              <a:rPr lang="en-IN" altLang="en-US"/>
              <a:t>Increasing the training by 1 more epoch.</a:t>
            </a:r>
            <a:endParaRPr lang="en-IN" altLang="en-US"/>
          </a:p>
          <a:p>
            <a:endParaRPr lang="en-IN" altLang="en-US"/>
          </a:p>
          <a:p>
            <a:r>
              <a:rPr lang="en-IN" altLang="en-US"/>
              <a:t>Increase number of phases and decrease number of epochs per phase.</a:t>
            </a:r>
            <a:endParaRPr lang="en-IN" altLang="en-US"/>
          </a:p>
          <a:p>
            <a:endParaRPr lang="en-IN" altLang="en-US"/>
          </a:p>
          <a:p>
            <a:r>
              <a:rPr lang="en-IN" altLang="en-US"/>
              <a:t>Use better version of EFFICIENTNET.</a:t>
            </a:r>
            <a:endParaRPr lang="en-IN" altLang="en-US"/>
          </a:p>
        </p:txBody>
      </p:sp>
    </p:spTree>
  </p:cSld>
  <p:clrMapOvr>
    <a:masterClrMapping/>
  </p:clrMapOvr>
</p:sld>
</file>

<file path=ppt/theme/theme1.xml><?xml version="1.0" encoding="utf-8"?>
<a:theme xmlns:a="http://schemas.openxmlformats.org/drawingml/2006/main" name="1_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3523</Words>
  <Application>WPS Presentation</Application>
  <PresentationFormat>Widescreen</PresentationFormat>
  <Paragraphs>97</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 Black</vt:lpstr>
      <vt:lpstr>Arial Unicode MS</vt:lpstr>
      <vt:lpstr>Berlin Sans FB</vt:lpstr>
      <vt:lpstr>Times New Roman</vt:lpstr>
      <vt:lpstr>Arial Rounded MT Bold</vt:lpstr>
      <vt:lpstr>Microsoft YaHei</vt:lpstr>
      <vt:lpstr>Calibri</vt:lpstr>
      <vt:lpstr>1_Communications and Dialogues</vt:lpstr>
      <vt:lpstr>Deep Learning - Seminar</vt:lpstr>
      <vt:lpstr>Topic</vt:lpstr>
      <vt:lpstr>PowerPoint 演示文稿</vt:lpstr>
      <vt:lpstr>Objectives</vt:lpstr>
      <vt:lpstr>What is CNN?</vt:lpstr>
      <vt:lpstr>Approach</vt:lpstr>
      <vt:lpstr>Dataset</vt:lpstr>
      <vt:lpstr>Applying Data Augmentation</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 Seminar</dc:title>
  <dc:creator>amant</dc:creator>
  <cp:lastModifiedBy>amant</cp:lastModifiedBy>
  <cp:revision>10</cp:revision>
  <dcterms:created xsi:type="dcterms:W3CDTF">2021-10-11T05:03:00Z</dcterms:created>
  <dcterms:modified xsi:type="dcterms:W3CDTF">2021-10-22T14:50:24Z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1033-10.2.0.7636</vt:lpwstr>
  </property>
</Properties>
</file>