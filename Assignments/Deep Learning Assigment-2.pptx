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0" r:id="rId7"/>
    <p:sldId id="262" r:id="rId8"/>
    <p:sldId id="261" r:id="rId9"/>
    <p:sldId id="263" r:id="rId10"/>
    <p:sldId id="264" r:id="rId11"/>
    <p:sldId id="265" r:id="rId12"/>
    <p:sldId id="266" r:id="rId13"/>
    <p:sldId id="268" r:id="rId14"/>
    <p:sldId id="269" r:id="rId15"/>
    <p:sldId id="270" r:id="rId16"/>
  </p:sldIdLst>
  <p:sldSz cx="12192000" cy="6858000"/>
  <p:notesSz cx="7103745" cy="1023429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notesViewPr>
    <p:cSldViewPr snapToGrid="0">
      <p:cViewPr varScale="1">
        <p:scale>
          <a:sx n="41" d="100"/>
          <a:sy n="41" d="100"/>
        </p:scale>
        <p:origin x="1794" y="54"/>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 name="Shape 55"/>
        <p:cNvGrpSpPr/>
        <p:nvPr/>
      </p:nvGrpSpPr>
      <p:grpSpPr>
        <a:xfrm>
          <a:off x="0" y="0"/>
          <a:ext cx="0" cy="0"/>
          <a:chOff x="0" y="0"/>
          <a:chExt cx="0" cy="0"/>
        </a:xfrm>
      </p:grpSpPr>
      <p:sp>
        <p:nvSpPr>
          <p:cNvPr id="56" name="Google Shape;56;gc6f90357f_0_0:notes"/>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c6f90357f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3"/>
          <p:cNvPicPr>
            <a:picLocks noChangeAspect="1"/>
          </p:cNvPicPr>
          <p:nvPr/>
        </p:nvPicPr>
        <p:blipFill>
          <a:blip r:embed="rId2"/>
          <a:stretch>
            <a:fillRect/>
          </a:stretch>
        </p:blipFill>
        <p:spPr>
          <a:xfrm>
            <a:off x="0" y="19050"/>
            <a:ext cx="12206817" cy="6867525"/>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FDE934FF-F4E1-47C5-9CA5-30A81DDE2BE4}"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B3561BA9-CDCF-4958-B8AB-66F3BF063E13}"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B3561BA9-CDCF-4958-B8AB-66F3BF063E13}"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B3561BA9-CDCF-4958-B8AB-66F3BF063E13}"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FDE934FF-F4E1-47C5-9CA5-30A81DDE2BE4}"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B3561BA9-CDCF-4958-B8AB-66F3BF063E13}"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FDE934FF-F4E1-47C5-9CA5-30A81DDE2BE4}"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B3561BA9-CDCF-4958-B8AB-66F3BF063E13}"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B3561BA9-CDCF-4958-B8AB-66F3BF063E13}"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FDE934FF-F4E1-47C5-9CA5-30A81DDE2BE4}"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B3561BA9-CDCF-4958-B8AB-66F3BF063E13}"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E0F28FA-A0FF-4778-BEE4-D616BFD88B81}"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FDE934FF-F4E1-47C5-9CA5-30A81DDE2BE4}"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B3561BA9-CDCF-4958-B8AB-66F3BF063E13}"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E0F28FA-A0FF-4778-BEE4-D616BFD88B81}"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FDE934FF-F4E1-47C5-9CA5-30A81DDE2BE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B3561BA9-CDCF-4958-B8AB-66F3BF063E13}"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8"/>
          <p:cNvPicPr>
            <a:picLocks noChangeAspect="1"/>
          </p:cNvPicPr>
          <p:nvPr/>
        </p:nvPicPr>
        <p:blipFill>
          <a:blip r:embed="rId12"/>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FDE934FF-F4E1-47C5-9CA5-30A81DDE2BE4}"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B3561BA9-CDCF-4958-B8AB-66F3BF063E13}"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rtl="0" fontAlgn="base">
        <a:spcBef>
          <a:spcPct val="0"/>
        </a:spcBef>
        <a:spcAft>
          <a:spcPct val="0"/>
        </a:spcAft>
        <a:defRPr sz="3600" kern="1200">
          <a:solidFill>
            <a:schemeClr val="bg1"/>
          </a:solidFill>
          <a:latin typeface="+mj-lt"/>
          <a:ea typeface="+mj-ea"/>
          <a:cs typeface="+mj-cs"/>
        </a:defRPr>
      </a:lvl1pPr>
      <a:lvl2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2pPr>
      <a:lvl3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3pPr>
      <a:lvl4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4pPr>
      <a:lvl5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5pPr>
      <a:lvl6pPr marL="4572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6pPr>
      <a:lvl7pPr marL="9144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7pPr>
      <a:lvl8pPr marL="13716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8pPr>
      <a:lvl9pPr marL="18288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colab.research.google.com/drive/1FXR3jYGsgaJEqp2YKIW2_rc4WYEIpes4?usp=sharing" TargetMode="External"/><Relationship Id="rId1" Type="http://schemas.openxmlformats.org/officeDocument/2006/relationships/hyperlink" Target="https://github.com/aman-thapa/DeepLearning-College/blob/main/Linear_regression_and_classification_in_DL.ipynb" TargetMode="Externa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8" name="Shape 58"/>
        <p:cNvGrpSpPr/>
        <p:nvPr/>
      </p:nvGrpSpPr>
      <p:grpSpPr>
        <a:xfrm>
          <a:off x="0" y="0"/>
          <a:ext cx="0" cy="0"/>
          <a:chOff x="0" y="0"/>
          <a:chExt cx="0" cy="0"/>
        </a:xfrm>
      </p:grpSpPr>
      <p:sp>
        <p:nvSpPr>
          <p:cNvPr id="59" name="Google Shape;59;p13"/>
          <p:cNvSpPr txBox="1"/>
          <p:nvPr>
            <p:ph type="ctrTitle"/>
          </p:nvPr>
        </p:nvSpPr>
        <p:spPr>
          <a:xfrm>
            <a:off x="303235" y="3215805"/>
            <a:ext cx="10824800" cy="2030400"/>
          </a:xfrm>
          <a:prstGeom prst="rect">
            <a:avLst/>
          </a:prstGeom>
        </p:spPr>
        <p:txBody>
          <a:bodyPr spcFirstLastPara="1" wrap="square" lIns="121900" tIns="121900" rIns="121900" bIns="121900" anchor="b" anchorCtr="0">
            <a:noAutofit/>
          </a:bodyPr>
          <a:lstStyle/>
          <a:p>
            <a:pPr marL="0" lvl="0" indent="0" algn="l" rtl="0">
              <a:spcBef>
                <a:spcPts val="0"/>
              </a:spcBef>
              <a:spcAft>
                <a:spcPts val="0"/>
              </a:spcAft>
              <a:buNone/>
            </a:pPr>
            <a:r>
              <a:rPr lang="en-IN" altLang="en-GB" sz="4400">
                <a:solidFill>
                  <a:srgbClr val="FF0000"/>
                </a:solidFill>
                <a:latin typeface="Arial Black" panose="020B0A04020102020204" charset="0"/>
                <a:ea typeface="Arial Unicode MS" panose="020B0604020202020204" charset="-122"/>
                <a:cs typeface="Arial Black" panose="020B0A04020102020204" charset="0"/>
              </a:rPr>
              <a:t>Deep Learning: Assignment-2</a:t>
            </a:r>
            <a:endParaRPr lang="en-IN" altLang="en-GB" sz="4400">
              <a:solidFill>
                <a:srgbClr val="FF0000"/>
              </a:solidFill>
              <a:latin typeface="Arial Black" panose="020B0A04020102020204" charset="0"/>
              <a:ea typeface="Arial Unicode MS" panose="020B0604020202020204" charset="-122"/>
              <a:cs typeface="Arial Black" panose="020B0A04020102020204" charset="0"/>
            </a:endParaRPr>
          </a:p>
        </p:txBody>
      </p:sp>
      <p:sp>
        <p:nvSpPr>
          <p:cNvPr id="60" name="Google Shape;60;p13"/>
          <p:cNvSpPr txBox="1"/>
          <p:nvPr>
            <p:ph type="subTitle" idx="1"/>
          </p:nvPr>
        </p:nvSpPr>
        <p:spPr>
          <a:xfrm>
            <a:off x="683600" y="4900819"/>
            <a:ext cx="10824800" cy="1050000"/>
          </a:xfrm>
          <a:prstGeom prst="rect">
            <a:avLst/>
          </a:prstGeom>
        </p:spPr>
        <p:txBody>
          <a:bodyPr spcFirstLastPara="1" wrap="square" lIns="121900" tIns="121900" rIns="121900" bIns="121900" anchor="t" anchorCtr="0">
            <a:noAutofit/>
          </a:bodyPr>
          <a:lstStyle/>
          <a:p>
            <a:pPr marL="0" lvl="0" indent="0" algn="r" rtl="0">
              <a:spcBef>
                <a:spcPts val="0"/>
              </a:spcBef>
              <a:spcAft>
                <a:spcPts val="0"/>
              </a:spcAft>
              <a:buNone/>
            </a:pPr>
            <a:r>
              <a:rPr lang="en-GB">
                <a:solidFill>
                  <a:schemeClr val="tx1"/>
                </a:solidFill>
                <a:latin typeface="Berlin Sans FB" panose="020E0602020502020306" charset="0"/>
                <a:cs typeface="Berlin Sans FB" panose="020E0602020502020306" charset="0"/>
              </a:rPr>
              <a:t>Name- Aman Thapa</a:t>
            </a:r>
            <a:endParaRPr lang="en-GB">
              <a:solidFill>
                <a:schemeClr val="tx1"/>
              </a:solidFill>
              <a:latin typeface="Berlin Sans FB" panose="020E0602020502020306" charset="0"/>
              <a:cs typeface="Berlin Sans FB" panose="020E0602020502020306" charset="0"/>
            </a:endParaRPr>
          </a:p>
          <a:p>
            <a:pPr marL="0" lvl="0" indent="0" algn="r" rtl="0">
              <a:spcBef>
                <a:spcPts val="0"/>
              </a:spcBef>
              <a:spcAft>
                <a:spcPts val="0"/>
              </a:spcAft>
              <a:buNone/>
            </a:pPr>
            <a:r>
              <a:rPr lang="en-GB">
                <a:solidFill>
                  <a:schemeClr val="tx1"/>
                </a:solidFill>
                <a:latin typeface="Berlin Sans FB" panose="020E0602020502020306" charset="0"/>
                <a:cs typeface="Berlin Sans FB" panose="020E0602020502020306" charset="0"/>
              </a:rPr>
              <a:t>USN- ENG19CS0026</a:t>
            </a:r>
            <a:endParaRPr lang="en-GB">
              <a:solidFill>
                <a:schemeClr val="tx1"/>
              </a:solidFill>
              <a:latin typeface="Berlin Sans FB" panose="020E0602020502020306" charset="0"/>
              <a:cs typeface="Berlin Sans FB" panose="020E0602020502020306" charset="0"/>
            </a:endParaRPr>
          </a:p>
          <a:p>
            <a:pPr marL="0" lvl="0" indent="0" algn="r" rtl="0">
              <a:spcBef>
                <a:spcPts val="0"/>
              </a:spcBef>
              <a:spcAft>
                <a:spcPts val="0"/>
              </a:spcAft>
              <a:buNone/>
            </a:pPr>
            <a:r>
              <a:rPr lang="en-GB">
                <a:solidFill>
                  <a:schemeClr val="tx1"/>
                </a:solidFill>
                <a:latin typeface="Berlin Sans FB" panose="020E0602020502020306" charset="0"/>
                <a:cs typeface="Berlin Sans FB" panose="020E0602020502020306" charset="0"/>
              </a:rPr>
              <a:t>Section- A</a:t>
            </a:r>
            <a:endParaRPr lang="en-GB">
              <a:solidFill>
                <a:schemeClr val="tx1"/>
              </a:solidFill>
              <a:latin typeface="Berlin Sans FB" panose="020E0602020502020306" charset="0"/>
              <a:cs typeface="Berlin Sans FB" panose="020E0602020502020306" charset="0"/>
            </a:endParaRPr>
          </a:p>
        </p:txBody>
      </p:sp>
      <p:sp>
        <p:nvSpPr>
          <p:cNvPr id="61" name="Google Shape;61;p13"/>
          <p:cNvSpPr txBox="1"/>
          <p:nvPr/>
        </p:nvSpPr>
        <p:spPr>
          <a:xfrm>
            <a:off x="1717178" y="1156298"/>
            <a:ext cx="7866400" cy="1002030"/>
          </a:xfrm>
          <a:prstGeom prst="rect">
            <a:avLst/>
          </a:prstGeom>
          <a:gradFill flip="none">
            <a:gsLst>
              <a:gs pos="0">
                <a:srgbClr val="007BD3">
                  <a:alpha val="0"/>
                </a:srgbClr>
              </a:gs>
              <a:gs pos="100000">
                <a:srgbClr val="034373"/>
              </a:gs>
            </a:gsLst>
            <a:lin ang="5400000" scaled="0"/>
          </a:gradFill>
          <a:ln>
            <a:noFill/>
          </a:ln>
        </p:spPr>
        <p:txBody>
          <a:bodyPr spcFirstLastPara="1" wrap="square" lIns="121900" tIns="121900" rIns="121900" bIns="121900" anchor="t" anchorCtr="0">
            <a:spAutoFit/>
          </a:bodyPr>
          <a:lstStyle/>
          <a:p>
            <a:pPr marL="0" lvl="0" indent="0" algn="l" rtl="0">
              <a:spcBef>
                <a:spcPts val="0"/>
              </a:spcBef>
              <a:spcAft>
                <a:spcPts val="0"/>
              </a:spcAft>
              <a:buNone/>
            </a:pPr>
            <a:r>
              <a:rPr lang="en-GB" sz="4935">
                <a:solidFill>
                  <a:srgbClr val="FFFF00"/>
                </a:solidFill>
                <a:latin typeface="Times New Roman" panose="02020603050405020304"/>
                <a:ea typeface="Times New Roman" panose="02020603050405020304"/>
                <a:cs typeface="Times New Roman" panose="02020603050405020304"/>
                <a:sym typeface="Times New Roman" panose="02020603050405020304"/>
              </a:rPr>
              <a:t>Dayanand Sagar University</a:t>
            </a:r>
            <a:endParaRPr sz="4935">
              <a:solidFill>
                <a:srgbClr val="FFFF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62" name="Google Shape;62;p13"/>
          <p:cNvPicPr preferRelativeResize="0"/>
          <p:nvPr/>
        </p:nvPicPr>
        <p:blipFill>
          <a:blip r:embed="rId1"/>
          <a:stretch>
            <a:fillRect/>
          </a:stretch>
        </p:blipFill>
        <p:spPr>
          <a:xfrm>
            <a:off x="9336900" y="128333"/>
            <a:ext cx="2030400" cy="2030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Implementation of DNN</a:t>
            </a:r>
            <a:endParaRPr lang="en-IN" altLang="en-US" b="1"/>
          </a:p>
        </p:txBody>
      </p:sp>
      <p:sp>
        <p:nvSpPr>
          <p:cNvPr id="3" name="Content Placeholder 2"/>
          <p:cNvSpPr>
            <a:spLocks noGrp="1"/>
          </p:cNvSpPr>
          <p:nvPr>
            <p:ph idx="1"/>
          </p:nvPr>
        </p:nvSpPr>
        <p:spPr/>
        <p:txBody>
          <a:bodyPr/>
          <a:p>
            <a:r>
              <a:rPr lang="en-IN" altLang="en-US"/>
              <a:t>Github Link-</a:t>
            </a:r>
            <a:endParaRPr lang="en-IN" altLang="en-US"/>
          </a:p>
          <a:p>
            <a:pPr marL="0" indent="0">
              <a:buNone/>
            </a:pPr>
            <a:r>
              <a:rPr lang="en-IN" altLang="en-US">
                <a:hlinkClick r:id="rId1" action="ppaction://hlinkfile"/>
              </a:rPr>
              <a:t>https://github.com/aman-thapa/DeepLearning-College/blob/main/Linear_regression_and_classification_in_DL.ipynb</a:t>
            </a:r>
            <a:endParaRPr lang="en-IN" altLang="en-US"/>
          </a:p>
          <a:p>
            <a:endParaRPr lang="en-IN" altLang="en-US"/>
          </a:p>
          <a:p>
            <a:r>
              <a:rPr lang="en-IN" altLang="en-US"/>
              <a:t>Google Collab-</a:t>
            </a:r>
            <a:endParaRPr lang="en-IN" altLang="en-US"/>
          </a:p>
          <a:p>
            <a:pPr marL="0" indent="0">
              <a:buNone/>
            </a:pPr>
            <a:r>
              <a:rPr lang="en-IN" altLang="en-US">
                <a:hlinkClick r:id="rId2" action="ppaction://hlinkfile"/>
              </a:rPr>
              <a:t>https://colab.research.google.com/drive/1FXR3jYGsgaJEqp2YKIW2_rc4WYEIpes4?usp=sharing</a:t>
            </a:r>
            <a:endParaRPr lang="en-I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Forward and Backward Propagation</a:t>
            </a:r>
            <a:endParaRPr lang="en-IN" altLang="en-US" b="1"/>
          </a:p>
        </p:txBody>
      </p:sp>
      <p:sp>
        <p:nvSpPr>
          <p:cNvPr id="3" name="Content Placeholder 2"/>
          <p:cNvSpPr>
            <a:spLocks noGrp="1"/>
          </p:cNvSpPr>
          <p:nvPr>
            <p:ph sz="half" idx="1"/>
          </p:nvPr>
        </p:nvSpPr>
        <p:spPr/>
        <p:txBody>
          <a:bodyPr/>
          <a:p>
            <a:r>
              <a:rPr lang="en-US" sz="2400" b="1"/>
              <a:t>Forward Propagation</a:t>
            </a:r>
            <a:r>
              <a:rPr lang="en-US" sz="2400"/>
              <a:t> is the way to move from the Input layer (left) to the Output layer (right) in the neural network.</a:t>
            </a:r>
            <a:endParaRPr lang="en-US" sz="2400"/>
          </a:p>
          <a:p>
            <a:endParaRPr lang="en-US" sz="2400"/>
          </a:p>
          <a:p>
            <a:r>
              <a:rPr lang="en-US" sz="2400"/>
              <a:t>The process of moving from the right to left i.e backward from the Output to the Input layer is called the </a:t>
            </a:r>
            <a:r>
              <a:rPr lang="en-US" sz="2400" b="1"/>
              <a:t>Backward Propagation.</a:t>
            </a:r>
            <a:r>
              <a:rPr lang="en-US" sz="2400"/>
              <a:t> Backward Propagation is the preferable method of adjusting or correcting the weights to reach the minimized loss function.</a:t>
            </a:r>
            <a:endParaRPr lang="en-US" sz="2400"/>
          </a:p>
        </p:txBody>
      </p:sp>
      <p:pic>
        <p:nvPicPr>
          <p:cNvPr id="5" name="Content Placeholder 4"/>
          <p:cNvPicPr>
            <a:picLocks noChangeAspect="1"/>
          </p:cNvPicPr>
          <p:nvPr>
            <p:ph sz="half" idx="2"/>
          </p:nvPr>
        </p:nvPicPr>
        <p:blipFill>
          <a:blip r:embed="rId1"/>
          <a:stretch>
            <a:fillRect/>
          </a:stretch>
        </p:blipFill>
        <p:spPr>
          <a:xfrm>
            <a:off x="6593205" y="2059305"/>
            <a:ext cx="4989195" cy="35623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Content Placeholder 4"/>
          <p:cNvPicPr>
            <a:picLocks noChangeAspect="1"/>
          </p:cNvPicPr>
          <p:nvPr>
            <p:ph idx="1"/>
          </p:nvPr>
        </p:nvPicPr>
        <p:blipFill>
          <a:blip r:embed="rId1"/>
          <a:stretch>
            <a:fillRect/>
          </a:stretch>
        </p:blipFill>
        <p:spPr>
          <a:xfrm>
            <a:off x="1580515" y="1428115"/>
            <a:ext cx="8667115" cy="42665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Loss and Metrics</a:t>
            </a:r>
            <a:endParaRPr lang="en-IN" altLang="en-US" b="1"/>
          </a:p>
        </p:txBody>
      </p:sp>
      <p:sp>
        <p:nvSpPr>
          <p:cNvPr id="3" name="Content Placeholder 2"/>
          <p:cNvSpPr>
            <a:spLocks noGrp="1"/>
          </p:cNvSpPr>
          <p:nvPr>
            <p:ph sz="half" idx="1"/>
          </p:nvPr>
        </p:nvSpPr>
        <p:spPr/>
        <p:txBody>
          <a:bodyPr/>
          <a:p>
            <a:r>
              <a:rPr lang="en-IN" altLang="en-US" sz="2400"/>
              <a:t>Loss - </a:t>
            </a:r>
            <a:r>
              <a:rPr lang="en-IN" altLang="en-US" sz="2400" b="1"/>
              <a:t>Loss functions</a:t>
            </a:r>
            <a:r>
              <a:rPr lang="en-IN" altLang="en-US" sz="2400"/>
              <a:t> show a measure of model performance. They’re used to train a machine learning model (using some kind of optimization like Gradient Descent), and they’re usually differentiable in the model’s parameters. </a:t>
            </a:r>
            <a:endParaRPr lang="en-IN" altLang="en-US" sz="2400"/>
          </a:p>
          <a:p>
            <a:pPr marL="0" indent="0">
              <a:buNone/>
            </a:pPr>
            <a:endParaRPr lang="en-IN" altLang="en-US" sz="2400"/>
          </a:p>
          <a:p>
            <a:r>
              <a:rPr lang="en-IN" altLang="en-US" sz="2400"/>
              <a:t>Metrics - Metrics are used to monitor and measure the performance of a model (during training and testing), and don’t need to be differentiable.</a:t>
            </a:r>
            <a:endParaRPr lang="en-IN" altLang="en-US" sz="2400"/>
          </a:p>
          <a:p>
            <a:endParaRPr lang="en-IN" altLang="en-US" sz="2400"/>
          </a:p>
        </p:txBody>
      </p:sp>
      <p:pic>
        <p:nvPicPr>
          <p:cNvPr id="4" name="Content Placeholder 3" descr="image"/>
          <p:cNvPicPr>
            <a:picLocks noChangeAspect="1"/>
          </p:cNvPicPr>
          <p:nvPr>
            <p:ph sz="half" idx="2"/>
          </p:nvPr>
        </p:nvPicPr>
        <p:blipFill>
          <a:blip r:embed="rId1"/>
          <a:stretch>
            <a:fillRect/>
          </a:stretch>
        </p:blipFill>
        <p:spPr>
          <a:xfrm>
            <a:off x="5993765" y="1397635"/>
            <a:ext cx="5958205" cy="38430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Accuracy </a:t>
            </a:r>
            <a:endParaRPr lang="en-IN" altLang="en-US" b="1"/>
          </a:p>
        </p:txBody>
      </p:sp>
      <p:sp>
        <p:nvSpPr>
          <p:cNvPr id="3" name="Content Placeholder 2"/>
          <p:cNvSpPr>
            <a:spLocks noGrp="1"/>
          </p:cNvSpPr>
          <p:nvPr>
            <p:ph sz="half" idx="1"/>
          </p:nvPr>
        </p:nvSpPr>
        <p:spPr/>
        <p:txBody>
          <a:bodyPr/>
          <a:p>
            <a:r>
              <a:rPr lang="en-US" sz="2400"/>
              <a:t>The fraction of predictions that a classification model got right. In multi-class classification, accuracy is defined as follows:</a:t>
            </a:r>
            <a:endParaRPr lang="en-US" sz="2400"/>
          </a:p>
          <a:p>
            <a:endParaRPr lang="en-US" sz="2400"/>
          </a:p>
          <a:p>
            <a:endParaRPr lang="en-US" sz="2400"/>
          </a:p>
          <a:p>
            <a:pPr marL="0" indent="0">
              <a:buNone/>
            </a:pPr>
            <a:endParaRPr lang="en-US" sz="2400"/>
          </a:p>
          <a:p>
            <a:r>
              <a:rPr lang="en-US" sz="2400"/>
              <a:t>In binary classification, accuracy has the following definition:</a:t>
            </a:r>
            <a:endParaRPr lang="en-US" sz="2400"/>
          </a:p>
          <a:p>
            <a:endParaRPr lang="en-US" sz="2400"/>
          </a:p>
          <a:p>
            <a:endParaRPr lang="en-US" sz="2400"/>
          </a:p>
        </p:txBody>
      </p:sp>
      <p:pic>
        <p:nvPicPr>
          <p:cNvPr id="4" name="Content Placeholder 3"/>
          <p:cNvPicPr>
            <a:picLocks noChangeAspect="1"/>
          </p:cNvPicPr>
          <p:nvPr>
            <p:ph sz="half" idx="2"/>
          </p:nvPr>
        </p:nvPicPr>
        <p:blipFill>
          <a:blip r:embed="rId1"/>
          <a:stretch>
            <a:fillRect/>
          </a:stretch>
        </p:blipFill>
        <p:spPr>
          <a:xfrm>
            <a:off x="6345555" y="1532890"/>
            <a:ext cx="5230495" cy="847090"/>
          </a:xfrm>
          <a:prstGeom prst="rect">
            <a:avLst/>
          </a:prstGeom>
        </p:spPr>
      </p:pic>
      <p:pic>
        <p:nvPicPr>
          <p:cNvPr id="5" name="Picture 4"/>
          <p:cNvPicPr>
            <a:picLocks noChangeAspect="1"/>
          </p:cNvPicPr>
          <p:nvPr/>
        </p:nvPicPr>
        <p:blipFill>
          <a:blip r:embed="rId2"/>
          <a:stretch>
            <a:fillRect/>
          </a:stretch>
        </p:blipFill>
        <p:spPr>
          <a:xfrm>
            <a:off x="6132195" y="4611370"/>
            <a:ext cx="5443855" cy="8153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Sigmoid Function</a:t>
            </a:r>
            <a:endParaRPr lang="en-IN" altLang="en-US"/>
          </a:p>
        </p:txBody>
      </p:sp>
      <p:sp>
        <p:nvSpPr>
          <p:cNvPr id="6" name="Content Placeholder 5"/>
          <p:cNvSpPr/>
          <p:nvPr>
            <p:ph sz="half" idx="1"/>
          </p:nvPr>
        </p:nvSpPr>
        <p:spPr/>
        <p:txBody>
          <a:bodyPr/>
          <a:p>
            <a:pPr marL="0" indent="0">
              <a:lnSpc>
                <a:spcPct val="150000"/>
              </a:lnSpc>
              <a:buNone/>
            </a:pPr>
            <a:r>
              <a:rPr lang="en-US" sz="2400"/>
              <a:t>The main reason why we use sigmoid function is because it exists between (0 to 1). Therefore, it is especially used for models where we have to predict the probability as an output. Since probability of anything exists only between the range of 0 and 1, sigmoid is the right choice.</a:t>
            </a:r>
            <a:endParaRPr lang="en-US" sz="2400"/>
          </a:p>
        </p:txBody>
      </p:sp>
      <p:pic>
        <p:nvPicPr>
          <p:cNvPr id="7" name="Content Placeholder 6"/>
          <p:cNvPicPr>
            <a:picLocks noChangeAspect="1"/>
          </p:cNvPicPr>
          <p:nvPr>
            <p:ph sz="half" idx="2"/>
          </p:nvPr>
        </p:nvPicPr>
        <p:blipFill>
          <a:blip r:embed="rId1"/>
          <a:stretch>
            <a:fillRect/>
          </a:stretch>
        </p:blipFill>
        <p:spPr>
          <a:xfrm>
            <a:off x="6141085" y="1677035"/>
            <a:ext cx="5733415" cy="38188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tanh function</a:t>
            </a:r>
            <a:endParaRPr lang="en-IN" altLang="en-US" b="1"/>
          </a:p>
        </p:txBody>
      </p:sp>
      <p:sp>
        <p:nvSpPr>
          <p:cNvPr id="3" name="Content Placeholder 2"/>
          <p:cNvSpPr>
            <a:spLocks noGrp="1"/>
          </p:cNvSpPr>
          <p:nvPr>
            <p:ph sz="half" idx="1"/>
          </p:nvPr>
        </p:nvSpPr>
        <p:spPr/>
        <p:txBody>
          <a:bodyPr/>
          <a:p>
            <a:pPr marL="0" indent="0">
              <a:lnSpc>
                <a:spcPct val="150000"/>
              </a:lnSpc>
              <a:buNone/>
            </a:pPr>
            <a:r>
              <a:rPr lang="en-US"/>
              <a:t>tanh is also like logistic sigmoid but better. The range of the tanh function is from (-1 to 1). tanh is also sigmoidal (s - shaped).</a:t>
            </a:r>
            <a:endParaRPr lang="en-US"/>
          </a:p>
        </p:txBody>
      </p:sp>
      <p:pic>
        <p:nvPicPr>
          <p:cNvPr id="5" name="Content Placeholder 4"/>
          <p:cNvPicPr>
            <a:picLocks noChangeAspect="1"/>
          </p:cNvPicPr>
          <p:nvPr>
            <p:ph sz="half" idx="2"/>
          </p:nvPr>
        </p:nvPicPr>
        <p:blipFill>
          <a:blip r:embed="rId1"/>
          <a:stretch>
            <a:fillRect/>
          </a:stretch>
        </p:blipFill>
        <p:spPr>
          <a:xfrm>
            <a:off x="6232525" y="1723390"/>
            <a:ext cx="5221605" cy="39236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ReLu Function</a:t>
            </a:r>
            <a:endParaRPr lang="en-IN" altLang="en-US"/>
          </a:p>
        </p:txBody>
      </p:sp>
      <p:sp>
        <p:nvSpPr>
          <p:cNvPr id="3" name="Content Placeholder 2"/>
          <p:cNvSpPr>
            <a:spLocks noGrp="1"/>
          </p:cNvSpPr>
          <p:nvPr>
            <p:ph sz="half" idx="1"/>
          </p:nvPr>
        </p:nvSpPr>
        <p:spPr/>
        <p:txBody>
          <a:bodyPr/>
          <a:p>
            <a:r>
              <a:rPr lang="en-US" sz="2400"/>
              <a:t>The ReLU is the most used activation function in the world right now.Since, it is used in almost all the convolutional neural networks or deep learning.</a:t>
            </a:r>
            <a:endParaRPr lang="en-US" sz="2400"/>
          </a:p>
          <a:p>
            <a:r>
              <a:rPr lang="en-US" sz="2400"/>
              <a:t>As you can see, the ReLU is half rectified (from bottom). f(z) is zero when z is less than zero and f(z) is equal to z when z is above or equal to zero.</a:t>
            </a:r>
            <a:endParaRPr lang="en-US" sz="2400"/>
          </a:p>
          <a:p>
            <a:r>
              <a:rPr lang="en-US" sz="2400"/>
              <a:t>Range: [ 0 to infinity)</a:t>
            </a:r>
            <a:endParaRPr lang="en-US" sz="2400"/>
          </a:p>
        </p:txBody>
      </p:sp>
      <p:pic>
        <p:nvPicPr>
          <p:cNvPr id="5" name="Content Placeholder 4"/>
          <p:cNvPicPr>
            <a:picLocks noChangeAspect="1"/>
          </p:cNvPicPr>
          <p:nvPr>
            <p:ph sz="half" idx="2"/>
          </p:nvPr>
        </p:nvPicPr>
        <p:blipFill>
          <a:blip r:embed="rId1"/>
          <a:srcRect l="50331"/>
          <a:stretch>
            <a:fillRect/>
          </a:stretch>
        </p:blipFill>
        <p:spPr>
          <a:xfrm>
            <a:off x="7056120" y="1715135"/>
            <a:ext cx="4460875" cy="36131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Deep Neural Network </a:t>
            </a:r>
            <a:endParaRPr lang="en-IN" altLang="en-US" b="1"/>
          </a:p>
        </p:txBody>
      </p:sp>
      <p:sp>
        <p:nvSpPr>
          <p:cNvPr id="3" name="Content Placeholder 2"/>
          <p:cNvSpPr>
            <a:spLocks noGrp="1"/>
          </p:cNvSpPr>
          <p:nvPr>
            <p:ph sz="half" idx="1"/>
          </p:nvPr>
        </p:nvSpPr>
        <p:spPr/>
        <p:txBody>
          <a:bodyPr/>
          <a:p>
            <a:r>
              <a:rPr lang="en-US" sz="2400"/>
              <a:t>A deep neural network (DNN) is an ANN with multiple hidden layers between the input and output layers. Similar to shallow ANNs, DNNs can model complex non-linear relationships.</a:t>
            </a:r>
            <a:endParaRPr lang="en-US" sz="2400"/>
          </a:p>
          <a:p>
            <a:endParaRPr lang="en-US" sz="2400"/>
          </a:p>
          <a:p>
            <a:r>
              <a:rPr lang="en-US" sz="2400"/>
              <a:t>The main purpose of a neural network is to receive a set of inputs, perform progressively complex calculations on them, and give output to solve real world problems like classification. </a:t>
            </a:r>
            <a:endParaRPr lang="en-US" sz="2400"/>
          </a:p>
        </p:txBody>
      </p:sp>
      <p:pic>
        <p:nvPicPr>
          <p:cNvPr id="5" name="Content Placeholder 4"/>
          <p:cNvPicPr>
            <a:picLocks noChangeAspect="1"/>
          </p:cNvPicPr>
          <p:nvPr>
            <p:ph sz="half" idx="2"/>
          </p:nvPr>
        </p:nvPicPr>
        <p:blipFill>
          <a:blip r:embed="rId1"/>
          <a:stretch>
            <a:fillRect/>
          </a:stretch>
        </p:blipFill>
        <p:spPr>
          <a:xfrm>
            <a:off x="6504305" y="1642110"/>
            <a:ext cx="4971415" cy="41624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Overfit, Underfit and Optimal fit</a:t>
            </a:r>
            <a:endParaRPr lang="en-IN" altLang="en-US" b="1"/>
          </a:p>
        </p:txBody>
      </p:sp>
      <p:sp>
        <p:nvSpPr>
          <p:cNvPr id="3" name="Content Placeholder 2"/>
          <p:cNvSpPr>
            <a:spLocks noGrp="1"/>
          </p:cNvSpPr>
          <p:nvPr>
            <p:ph sz="half" idx="1"/>
          </p:nvPr>
        </p:nvSpPr>
        <p:spPr/>
        <p:txBody>
          <a:bodyPr/>
          <a:p>
            <a:r>
              <a:rPr lang="en-IN" altLang="en-US" sz="2400" b="1"/>
              <a:t>Overfit- </a:t>
            </a:r>
            <a:r>
              <a:rPr lang="en-IN" altLang="en-US" sz="2400"/>
              <a:t>Overfitting refers to a model that models the training data too well. Overfitting happens when a model learns the detail and noise in the training data to the extent that it negatively impacts the performance of the model on new data. This means that the noise or random fluctuations in the training data is picked up and learned as concepts by the model. The problem is that these concepts do not apply to new data and negatively impact the models ability to generalize.</a:t>
            </a:r>
            <a:endParaRPr lang="en-IN" altLang="en-US" sz="2400"/>
          </a:p>
        </p:txBody>
      </p:sp>
      <p:pic>
        <p:nvPicPr>
          <p:cNvPr id="5" name="Content Placeholder 4"/>
          <p:cNvPicPr>
            <a:picLocks noChangeAspect="1"/>
          </p:cNvPicPr>
          <p:nvPr>
            <p:ph sz="half" idx="2"/>
          </p:nvPr>
        </p:nvPicPr>
        <p:blipFill>
          <a:blip r:embed="rId1"/>
          <a:stretch>
            <a:fillRect/>
          </a:stretch>
        </p:blipFill>
        <p:spPr>
          <a:xfrm>
            <a:off x="6202680" y="1867535"/>
            <a:ext cx="5723255" cy="32054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609600" y="1174750"/>
            <a:ext cx="10732135" cy="4953000"/>
          </a:xfrm>
        </p:spPr>
        <p:txBody>
          <a:bodyPr/>
          <a:p>
            <a:r>
              <a:rPr lang="en-IN" altLang="en-US" sz="2400" b="1"/>
              <a:t>Underfit- </a:t>
            </a:r>
            <a:r>
              <a:rPr lang="en-IN" altLang="en-US" sz="2400"/>
              <a:t>Underfitting refers to a model that can neither model the training data nor generalize to new data. An underfit machine learning model is not a suitable model and will be obvious as it will have poor performance on the training data.</a:t>
            </a:r>
            <a:endParaRPr lang="en-IN" altLang="en-US" sz="2400"/>
          </a:p>
          <a:p>
            <a:endParaRPr lang="en-IN" altLang="en-US" sz="2400"/>
          </a:p>
          <a:p>
            <a:pPr marL="0" indent="0">
              <a:buNone/>
            </a:pPr>
            <a:endParaRPr lang="en-IN" altLang="en-US" sz="2400"/>
          </a:p>
          <a:p>
            <a:r>
              <a:rPr lang="en-IN" altLang="en-US" sz="2400" b="1"/>
              <a:t>Optimal fit- </a:t>
            </a:r>
            <a:r>
              <a:rPr lang="en-IN" altLang="en-US" sz="2400"/>
              <a:t>Ideally, the case when the model makes the predictions with 0 error, is said to have a good fit on the data. This situation is achievable at a spot between overfitting and underfitting. In order to get a good fit, we will stop at a point just before where the error starts increasing. At this point, the model is said to have good skills on training datasets as well as our unseen testing dataset.</a:t>
            </a:r>
            <a:r>
              <a:rPr lang="en-IN" altLang="en-US" sz="2400" b="1"/>
              <a:t> </a:t>
            </a:r>
            <a:endParaRPr lang="en-IN" altLang="en-US" sz="2400" b="1"/>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Dropout</a:t>
            </a:r>
            <a:endParaRPr lang="en-IN" altLang="en-US" b="1"/>
          </a:p>
        </p:txBody>
      </p:sp>
      <p:sp>
        <p:nvSpPr>
          <p:cNvPr id="3" name="Content Placeholder 2"/>
          <p:cNvSpPr>
            <a:spLocks noGrp="1"/>
          </p:cNvSpPr>
          <p:nvPr>
            <p:ph sz="half" idx="1"/>
          </p:nvPr>
        </p:nvSpPr>
        <p:spPr/>
        <p:txBody>
          <a:bodyPr/>
          <a:p>
            <a:pPr marL="0" indent="0">
              <a:buNone/>
            </a:pPr>
            <a:r>
              <a:rPr lang="en-US" sz="2800"/>
              <a:t>A form of regularization useful in training neural networks. Dropout regularization works by removing a random selection of a fixed number of the units in a network layer for a single gradient step. The more units dropped out, the stronger the regularization. This is analogous to training the network to emulate an exponentially large ensemble of smaller networks</a:t>
            </a:r>
            <a:endParaRPr lang="en-US" sz="2800"/>
          </a:p>
        </p:txBody>
      </p:sp>
      <p:pic>
        <p:nvPicPr>
          <p:cNvPr id="5" name="Content Placeholder 4"/>
          <p:cNvPicPr>
            <a:picLocks noChangeAspect="1"/>
          </p:cNvPicPr>
          <p:nvPr>
            <p:ph sz="half" idx="2"/>
          </p:nvPr>
        </p:nvPicPr>
        <p:blipFill>
          <a:blip r:embed="rId1"/>
          <a:stretch>
            <a:fillRect/>
          </a:stretch>
        </p:blipFill>
        <p:spPr>
          <a:xfrm>
            <a:off x="6229985" y="1974215"/>
            <a:ext cx="5629275" cy="2797175"/>
          </a:xfrm>
          <a:prstGeom prst="rect">
            <a:avLst/>
          </a:prstGeom>
        </p:spPr>
      </p:pic>
    </p:spTree>
  </p:cSld>
  <p:clrMapOvr>
    <a:masterClrMapping/>
  </p:clrMapOvr>
</p:sld>
</file>

<file path=ppt/theme/theme1.xml><?xml version="1.0" encoding="utf-8"?>
<a:theme xmlns:a="http://schemas.openxmlformats.org/drawingml/2006/main" name="1_Communications and Dialogues">
  <a:themeElements>
    <a:clrScheme name="Communications and Dialogu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Communications and Dialogu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Communications and Dialogu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ommunications and Dialogu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ommunications and Dialogu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ommunications and Dialogu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ommunications and Dialogu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ommunications and Dialogu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ommunications and Dialogu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ommunications and Dialogu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ommunications and Dialogu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ommunications and Dialogu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ommunications and Dialogu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ommunications and Dialogu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ommunications and Dialogu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4026</Words>
  <Application>WPS Presentation</Application>
  <PresentationFormat>Widescreen</PresentationFormat>
  <Paragraphs>72</Paragraphs>
  <Slides>13</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13</vt:i4>
      </vt:variant>
    </vt:vector>
  </HeadingPairs>
  <TitlesOfParts>
    <vt:vector size="23" baseType="lpstr">
      <vt:lpstr>Arial</vt:lpstr>
      <vt:lpstr>SimSun</vt:lpstr>
      <vt:lpstr>Wingdings</vt:lpstr>
      <vt:lpstr>Arial Black</vt:lpstr>
      <vt:lpstr>Arial Unicode MS</vt:lpstr>
      <vt:lpstr>Berlin Sans FB</vt:lpstr>
      <vt:lpstr>Times New Roman</vt:lpstr>
      <vt:lpstr>Microsoft YaHei</vt:lpstr>
      <vt:lpstr>Calibri</vt:lpstr>
      <vt:lpstr>1_Communications and Dialogues</vt:lpstr>
      <vt:lpstr>Deep Learning: Assignment-2</vt:lpstr>
      <vt:lpstr>Implementation of DNN</vt:lpstr>
      <vt:lpstr>Forward and Backward Propagation</vt:lpstr>
      <vt:lpstr>PowerPoint 演示文稿</vt:lpstr>
      <vt:lpstr>Loss and Metrics</vt:lpstr>
      <vt:lpstr>Accuracy </vt:lpstr>
      <vt:lpstr>Sigmoid Function</vt:lpstr>
      <vt:lpstr>tanh function</vt:lpstr>
      <vt:lpstr>ReLu Function</vt:lpstr>
      <vt:lpstr>Deep Neural Network </vt:lpstr>
      <vt:lpstr>Overfit, Underfit and Optimal fit</vt:lpstr>
      <vt:lpstr>PowerPoint 演示文稿</vt:lpstr>
      <vt:lpstr>Dropout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Assignment-2</dc:title>
  <dc:creator>amant</dc:creator>
  <cp:lastModifiedBy>amant</cp:lastModifiedBy>
  <cp:revision>6</cp:revision>
  <dcterms:created xsi:type="dcterms:W3CDTF">2021-09-22T16:58:00Z</dcterms:created>
  <dcterms:modified xsi:type="dcterms:W3CDTF">2021-09-23T16:46:54Z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1033-10.2.0.7636</vt:lpwstr>
  </property>
</Properties>
</file>